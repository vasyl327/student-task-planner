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" charset="1" panose="02000000000000000000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233147"/>
            <a:ext cx="860330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Task Planner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487170"/>
            <a:ext cx="9445523" cy="2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Веб - планувальник студентських завдань - локальний клієнтський додаток для керування дедлайнами. 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Автор: Гобляк В.В.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238" y="1215628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Проблема та мета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2238" y="3392386"/>
            <a:ext cx="6956079" cy="4636141"/>
            <a:chOff x="0" y="0"/>
            <a:chExt cx="9274772" cy="6181522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274810" cy="6181471"/>
            </a:xfrm>
            <a:custGeom>
              <a:avLst/>
              <a:gdLst/>
              <a:ahLst/>
              <a:cxnLst/>
              <a:rect r="r" b="b" t="t" l="l"/>
              <a:pathLst>
                <a:path h="6181471" w="9274810">
                  <a:moveTo>
                    <a:pt x="0" y="0"/>
                  </a:moveTo>
                  <a:lnTo>
                    <a:pt x="9274810" y="0"/>
                  </a:lnTo>
                  <a:lnTo>
                    <a:pt x="9274810" y="6181471"/>
                  </a:lnTo>
                  <a:lnTo>
                    <a:pt x="0" y="6181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" r="0" b="-4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49595" y="2687536"/>
            <a:ext cx="4185942" cy="3561607"/>
            <a:chOff x="0" y="0"/>
            <a:chExt cx="5581256" cy="4748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1142" cy="4748784"/>
            </a:xfrm>
            <a:custGeom>
              <a:avLst/>
              <a:gdLst/>
              <a:ahLst/>
              <a:cxnLst/>
              <a:rect r="r" b="b" t="t" l="l"/>
              <a:pathLst>
                <a:path h="4748784" w="558114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5524500" y="0"/>
                  </a:lnTo>
                  <a:cubicBezTo>
                    <a:pt x="5555869" y="0"/>
                    <a:pt x="5581142" y="25400"/>
                    <a:pt x="5581142" y="56642"/>
                  </a:cubicBezTo>
                  <a:lnTo>
                    <a:pt x="5581142" y="4692142"/>
                  </a:lnTo>
                  <a:cubicBezTo>
                    <a:pt x="5581142" y="4723511"/>
                    <a:pt x="5555742" y="4748784"/>
                    <a:pt x="5524500" y="4748784"/>
                  </a:cubicBezTo>
                  <a:lnTo>
                    <a:pt x="56642" y="4748784"/>
                  </a:lnTo>
                  <a:cubicBezTo>
                    <a:pt x="25273" y="4748784"/>
                    <a:pt x="0" y="4723384"/>
                    <a:pt x="0" y="469214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33107" y="296153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Чому цей проєкт?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3107" y="3611766"/>
            <a:ext cx="3618900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Студенти втрачають дедлайни через розпорошені нотатки, таблиці та повідомлення в різних місцях.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119049" y="2687536"/>
            <a:ext cx="4186085" cy="3561607"/>
            <a:chOff x="0" y="0"/>
            <a:chExt cx="5581447" cy="47488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1396" cy="4748784"/>
            </a:xfrm>
            <a:custGeom>
              <a:avLst/>
              <a:gdLst/>
              <a:ahLst/>
              <a:cxnLst/>
              <a:rect r="r" b="b" t="t" l="l"/>
              <a:pathLst>
                <a:path h="4748784" w="5581396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5524754" y="0"/>
                  </a:lnTo>
                  <a:cubicBezTo>
                    <a:pt x="5556123" y="0"/>
                    <a:pt x="5581396" y="25400"/>
                    <a:pt x="5581396" y="56642"/>
                  </a:cubicBezTo>
                  <a:lnTo>
                    <a:pt x="5581396" y="4692142"/>
                  </a:lnTo>
                  <a:cubicBezTo>
                    <a:pt x="5581396" y="4723511"/>
                    <a:pt x="5555996" y="4748784"/>
                    <a:pt x="5524754" y="4748784"/>
                  </a:cubicBezTo>
                  <a:lnTo>
                    <a:pt x="56642" y="4748784"/>
                  </a:lnTo>
                  <a:cubicBezTo>
                    <a:pt x="25273" y="4748784"/>
                    <a:pt x="0" y="4723384"/>
                    <a:pt x="0" y="469214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02570" y="296153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Ключова вимога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02570" y="3611766"/>
            <a:ext cx="3619052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Один простий інструмент без реєстрації та сервера - працює локально в браузері.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49595" y="6532664"/>
            <a:ext cx="8655548" cy="2200723"/>
            <a:chOff x="0" y="0"/>
            <a:chExt cx="11540731" cy="29342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40744" cy="2934335"/>
            </a:xfrm>
            <a:custGeom>
              <a:avLst/>
              <a:gdLst/>
              <a:ahLst/>
              <a:cxnLst/>
              <a:rect r="r" b="b" t="t" l="l"/>
              <a:pathLst>
                <a:path h="2934335" w="1154074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1483975" y="0"/>
                  </a:lnTo>
                  <a:cubicBezTo>
                    <a:pt x="11515344" y="0"/>
                    <a:pt x="11540744" y="25400"/>
                    <a:pt x="11540744" y="56769"/>
                  </a:cubicBezTo>
                  <a:lnTo>
                    <a:pt x="11540744" y="2877566"/>
                  </a:lnTo>
                  <a:cubicBezTo>
                    <a:pt x="11540744" y="2908935"/>
                    <a:pt x="11515344" y="2934335"/>
                    <a:pt x="11483975" y="2934335"/>
                  </a:cubicBezTo>
                  <a:lnTo>
                    <a:pt x="56769" y="2934335"/>
                  </a:lnTo>
                  <a:cubicBezTo>
                    <a:pt x="25400" y="2934335"/>
                    <a:pt x="0" y="2908935"/>
                    <a:pt x="0" y="2877566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933107" y="680665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Мета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33107" y="7456884"/>
            <a:ext cx="808850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Зручний локальний планувальник з інтегрованим календарем, фільтрацією задач і відстеженням статусів.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0238" y="3650161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Огляд рішення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0238" y="4717409"/>
            <a:ext cx="94455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Student Task Planner — клієнтський веб-додаток (HTML, CSS, JavaScript). Задачі містять: назву, предмет, дату, час, пріоритет, статус. Дані зберігаються локально в localStorage під ключем STP_TASKS.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3739" y="685352"/>
            <a:ext cx="5964736" cy="65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Архітектура</a:t>
            </a:r>
          </a:p>
        </p:txBody>
      </p:sp>
      <p:sp>
        <p:nvSpPr>
          <p:cNvPr name="Freeform 5" id="5" descr="preencoded.png"/>
          <p:cNvSpPr/>
          <p:nvPr/>
        </p:nvSpPr>
        <p:spPr>
          <a:xfrm flipH="false" flipV="false" rot="0">
            <a:off x="883739" y="1925841"/>
            <a:ext cx="631184" cy="631184"/>
          </a:xfrm>
          <a:custGeom>
            <a:avLst/>
            <a:gdLst/>
            <a:ahLst/>
            <a:cxnLst/>
            <a:rect r="r" b="b" t="t" l="l"/>
            <a:pathLst>
              <a:path h="631184" w="631184">
                <a:moveTo>
                  <a:pt x="0" y="0"/>
                </a:moveTo>
                <a:lnTo>
                  <a:pt x="631184" y="0"/>
                </a:lnTo>
                <a:lnTo>
                  <a:pt x="631184" y="631183"/>
                </a:lnTo>
                <a:lnTo>
                  <a:pt x="0" y="631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09" r="0" b="-820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3739" y="2838002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739" y="3400273"/>
            <a:ext cx="7952184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index.html, styles.css — інтерфейс, glassmorphism, календар, адаптивна верстка.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883739" y="4670974"/>
            <a:ext cx="631184" cy="631184"/>
          </a:xfrm>
          <a:custGeom>
            <a:avLst/>
            <a:gdLst/>
            <a:ahLst/>
            <a:cxnLst/>
            <a:rect r="r" b="b" t="t" l="l"/>
            <a:pathLst>
              <a:path h="631184" w="631184">
                <a:moveTo>
                  <a:pt x="0" y="0"/>
                </a:moveTo>
                <a:lnTo>
                  <a:pt x="631184" y="0"/>
                </a:lnTo>
                <a:lnTo>
                  <a:pt x="631184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716" r="0" b="-671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3739" y="5583136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Application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3739" y="6145406"/>
            <a:ext cx="7952184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app.js - CRUD, фільтри, валідація, рендер компонентів і робота з localStorage.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883739" y="7416108"/>
            <a:ext cx="631184" cy="631184"/>
          </a:xfrm>
          <a:custGeom>
            <a:avLst/>
            <a:gdLst/>
            <a:ahLst/>
            <a:cxnLst/>
            <a:rect r="r" b="b" t="t" l="l"/>
            <a:pathLst>
              <a:path h="631184" w="631184">
                <a:moveTo>
                  <a:pt x="0" y="0"/>
                </a:moveTo>
                <a:lnTo>
                  <a:pt x="631184" y="0"/>
                </a:lnTo>
                <a:lnTo>
                  <a:pt x="631184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462" r="0" b="-746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3739" y="8328269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3739" y="8890549"/>
            <a:ext cx="7952184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localStorage - збереження без backend і серверних залежностей.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61602" y="2977753"/>
            <a:ext cx="7952184" cy="5299920"/>
            <a:chOff x="0" y="0"/>
            <a:chExt cx="10602912" cy="706655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602849" cy="7066534"/>
            </a:xfrm>
            <a:custGeom>
              <a:avLst/>
              <a:gdLst/>
              <a:ahLst/>
              <a:cxnLst/>
              <a:rect r="r" b="b" t="t" l="l"/>
              <a:pathLst>
                <a:path h="7066534" w="10602849">
                  <a:moveTo>
                    <a:pt x="0" y="0"/>
                  </a:moveTo>
                  <a:lnTo>
                    <a:pt x="10602849" y="0"/>
                  </a:lnTo>
                  <a:lnTo>
                    <a:pt x="10602849" y="7066534"/>
                  </a:lnTo>
                  <a:lnTo>
                    <a:pt x="0" y="7066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5" t="0" r="-46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238" y="784917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Функціонал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2238" y="2256834"/>
            <a:ext cx="10355161" cy="6907111"/>
            <a:chOff x="0" y="0"/>
            <a:chExt cx="13806881" cy="9209481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3806932" cy="9209532"/>
            </a:xfrm>
            <a:custGeom>
              <a:avLst/>
              <a:gdLst/>
              <a:ahLst/>
              <a:cxnLst/>
              <a:rect r="r" b="b" t="t" l="l"/>
              <a:pathLst>
                <a:path h="9209532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9209532"/>
                  </a:lnTo>
                  <a:lnTo>
                    <a:pt x="0" y="920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t="0" r="-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048677" y="3009452"/>
            <a:ext cx="5256457" cy="547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CRUD задач із полями: назва, предмет, дата (ДД.ММ.РРРР), час (24-год).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Календар ~90 днів із прокруткою і підсвіткою днів з задачами.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Фільтр по дню, предмету та пріоритету; швидкий пошук.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Статистика: всього / активні / виконані / </a:t>
            </a:r>
            <a:r>
              <a:rPr lang="en-US" b="true" sz="2200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прострочені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Валідація введення, захист від XSS у полях задач.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695" y="747122"/>
            <a:ext cx="6141987" cy="67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Дизайн (UI)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695" y="3149498"/>
            <a:ext cx="6200775" cy="1724320"/>
            <a:chOff x="0" y="0"/>
            <a:chExt cx="8267700" cy="2299094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8267700" cy="2299081"/>
            </a:xfrm>
            <a:custGeom>
              <a:avLst/>
              <a:gdLst/>
              <a:ahLst/>
              <a:cxnLst/>
              <a:rect r="r" b="b" t="t" l="l"/>
              <a:pathLst>
                <a:path h="2299081" w="8267700">
                  <a:moveTo>
                    <a:pt x="0" y="0"/>
                  </a:moveTo>
                  <a:lnTo>
                    <a:pt x="8267700" y="0"/>
                  </a:lnTo>
                  <a:lnTo>
                    <a:pt x="8267700" y="2299081"/>
                  </a:lnTo>
                  <a:lnTo>
                    <a:pt x="0" y="2299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695" y="5144843"/>
            <a:ext cx="6200775" cy="2388841"/>
            <a:chOff x="0" y="0"/>
            <a:chExt cx="8267700" cy="31851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267700" cy="3185160"/>
            </a:xfrm>
            <a:custGeom>
              <a:avLst/>
              <a:gdLst/>
              <a:ahLst/>
              <a:cxnLst/>
              <a:rect r="r" b="b" t="t" l="l"/>
              <a:pathLst>
                <a:path h="3185160" w="8267700">
                  <a:moveTo>
                    <a:pt x="0" y="0"/>
                  </a:moveTo>
                  <a:lnTo>
                    <a:pt x="8267700" y="0"/>
                  </a:lnTo>
                  <a:lnTo>
                    <a:pt x="8267700" y="3185160"/>
                  </a:lnTo>
                  <a:lnTo>
                    <a:pt x="0" y="3185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" r="0" b="-3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748292" y="2037750"/>
            <a:ext cx="9648682" cy="2060972"/>
            <a:chOff x="0" y="0"/>
            <a:chExt cx="12864910" cy="27479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2826746" cy="2709799"/>
            </a:xfrm>
            <a:custGeom>
              <a:avLst/>
              <a:gdLst/>
              <a:ahLst/>
              <a:cxnLst/>
              <a:rect r="r" b="b" t="t" l="l"/>
              <a:pathLst>
                <a:path h="2709799" w="12826746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2641834" y="0"/>
                  </a:lnTo>
                  <a:cubicBezTo>
                    <a:pt x="12743942" y="0"/>
                    <a:pt x="12826746" y="81915"/>
                    <a:pt x="12826746" y="182880"/>
                  </a:cubicBezTo>
                  <a:lnTo>
                    <a:pt x="12826746" y="2526919"/>
                  </a:lnTo>
                  <a:cubicBezTo>
                    <a:pt x="12826746" y="2627884"/>
                    <a:pt x="12743942" y="2709799"/>
                    <a:pt x="12641834" y="2709799"/>
                  </a:cubicBezTo>
                  <a:lnTo>
                    <a:pt x="184912" y="2709799"/>
                  </a:lnTo>
                  <a:cubicBezTo>
                    <a:pt x="82804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64846" cy="2747899"/>
            </a:xfrm>
            <a:custGeom>
              <a:avLst/>
              <a:gdLst/>
              <a:ahLst/>
              <a:cxnLst/>
              <a:rect r="r" b="b" t="t" l="l"/>
              <a:pathLst>
                <a:path h="2747899" w="12864846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2660884" y="0"/>
                  </a:lnTo>
                  <a:lnTo>
                    <a:pt x="12660884" y="19050"/>
                  </a:lnTo>
                  <a:lnTo>
                    <a:pt x="12660884" y="0"/>
                  </a:lnTo>
                  <a:cubicBezTo>
                    <a:pt x="12773279" y="0"/>
                    <a:pt x="12864846" y="90170"/>
                    <a:pt x="12864846" y="201930"/>
                  </a:cubicBezTo>
                  <a:lnTo>
                    <a:pt x="12845796" y="201930"/>
                  </a:lnTo>
                  <a:lnTo>
                    <a:pt x="12864846" y="201930"/>
                  </a:lnTo>
                  <a:lnTo>
                    <a:pt x="12864846" y="2545969"/>
                  </a:lnTo>
                  <a:lnTo>
                    <a:pt x="12845796" y="2545969"/>
                  </a:lnTo>
                  <a:lnTo>
                    <a:pt x="12864846" y="2545969"/>
                  </a:lnTo>
                  <a:cubicBezTo>
                    <a:pt x="12864846" y="2657729"/>
                    <a:pt x="12773279" y="2747899"/>
                    <a:pt x="12660884" y="2747899"/>
                  </a:cubicBezTo>
                  <a:lnTo>
                    <a:pt x="12660884" y="2728849"/>
                  </a:lnTo>
                  <a:lnTo>
                    <a:pt x="12660884" y="2747899"/>
                  </a:lnTo>
                  <a:lnTo>
                    <a:pt x="203962" y="2747899"/>
                  </a:lnTo>
                  <a:lnTo>
                    <a:pt x="203962" y="2728849"/>
                  </a:lnTo>
                  <a:lnTo>
                    <a:pt x="203962" y="2747899"/>
                  </a:lnTo>
                  <a:cubicBezTo>
                    <a:pt x="91567" y="2747899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141" y="2709799"/>
                    <a:pt x="203962" y="2709799"/>
                  </a:cubicBezTo>
                  <a:lnTo>
                    <a:pt x="12660884" y="2709799"/>
                  </a:lnTo>
                  <a:cubicBezTo>
                    <a:pt x="12752705" y="2709799"/>
                    <a:pt x="12826746" y="2636266"/>
                    <a:pt x="12826746" y="2545969"/>
                  </a:cubicBezTo>
                  <a:lnTo>
                    <a:pt x="12826746" y="201930"/>
                  </a:lnTo>
                  <a:cubicBezTo>
                    <a:pt x="12826746" y="111633"/>
                    <a:pt x="12752705" y="38100"/>
                    <a:pt x="12660884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34005" y="2052037"/>
            <a:ext cx="114300" cy="2032397"/>
            <a:chOff x="0" y="0"/>
            <a:chExt cx="152400" cy="270986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2400" cy="2709799"/>
            </a:xfrm>
            <a:custGeom>
              <a:avLst/>
              <a:gdLst/>
              <a:ahLst/>
              <a:cxnLst/>
              <a:rect r="r" b="b" t="t" l="l"/>
              <a:pathLst>
                <a:path h="270979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709799"/>
                  </a:lnTo>
                  <a:lnTo>
                    <a:pt x="0" y="2709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" t="0" r="-83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38217" y="2322909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Візуальний стиль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8217" y="2924470"/>
            <a:ext cx="895453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Glassmorphism: розмиття, напівпрозорі панелі, легка тінь — строгий, сучасний вигляд.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748292" y="4311101"/>
            <a:ext cx="9648682" cy="2060972"/>
            <a:chOff x="0" y="0"/>
            <a:chExt cx="12864910" cy="27479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12826746" cy="2709799"/>
            </a:xfrm>
            <a:custGeom>
              <a:avLst/>
              <a:gdLst/>
              <a:ahLst/>
              <a:cxnLst/>
              <a:rect r="r" b="b" t="t" l="l"/>
              <a:pathLst>
                <a:path h="2709799" w="12826746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2641834" y="0"/>
                  </a:lnTo>
                  <a:cubicBezTo>
                    <a:pt x="12743942" y="0"/>
                    <a:pt x="12826746" y="81915"/>
                    <a:pt x="12826746" y="182880"/>
                  </a:cubicBezTo>
                  <a:lnTo>
                    <a:pt x="12826746" y="2526919"/>
                  </a:lnTo>
                  <a:cubicBezTo>
                    <a:pt x="12826746" y="2627884"/>
                    <a:pt x="12743942" y="2709799"/>
                    <a:pt x="12641834" y="2709799"/>
                  </a:cubicBezTo>
                  <a:lnTo>
                    <a:pt x="184912" y="2709799"/>
                  </a:lnTo>
                  <a:cubicBezTo>
                    <a:pt x="82804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64846" cy="2747899"/>
            </a:xfrm>
            <a:custGeom>
              <a:avLst/>
              <a:gdLst/>
              <a:ahLst/>
              <a:cxnLst/>
              <a:rect r="r" b="b" t="t" l="l"/>
              <a:pathLst>
                <a:path h="2747899" w="12864846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2660884" y="0"/>
                  </a:lnTo>
                  <a:lnTo>
                    <a:pt x="12660884" y="19050"/>
                  </a:lnTo>
                  <a:lnTo>
                    <a:pt x="12660884" y="0"/>
                  </a:lnTo>
                  <a:cubicBezTo>
                    <a:pt x="12773279" y="0"/>
                    <a:pt x="12864846" y="90170"/>
                    <a:pt x="12864846" y="201930"/>
                  </a:cubicBezTo>
                  <a:lnTo>
                    <a:pt x="12845796" y="201930"/>
                  </a:lnTo>
                  <a:lnTo>
                    <a:pt x="12864846" y="201930"/>
                  </a:lnTo>
                  <a:lnTo>
                    <a:pt x="12864846" y="2545969"/>
                  </a:lnTo>
                  <a:lnTo>
                    <a:pt x="12845796" y="2545969"/>
                  </a:lnTo>
                  <a:lnTo>
                    <a:pt x="12864846" y="2545969"/>
                  </a:lnTo>
                  <a:cubicBezTo>
                    <a:pt x="12864846" y="2657729"/>
                    <a:pt x="12773279" y="2747899"/>
                    <a:pt x="12660884" y="2747899"/>
                  </a:cubicBezTo>
                  <a:lnTo>
                    <a:pt x="12660884" y="2728849"/>
                  </a:lnTo>
                  <a:lnTo>
                    <a:pt x="12660884" y="2747899"/>
                  </a:lnTo>
                  <a:lnTo>
                    <a:pt x="203962" y="2747899"/>
                  </a:lnTo>
                  <a:lnTo>
                    <a:pt x="203962" y="2728849"/>
                  </a:lnTo>
                  <a:lnTo>
                    <a:pt x="203962" y="2747899"/>
                  </a:lnTo>
                  <a:cubicBezTo>
                    <a:pt x="91567" y="2747899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141" y="2709799"/>
                    <a:pt x="203962" y="2709799"/>
                  </a:cubicBezTo>
                  <a:lnTo>
                    <a:pt x="12660884" y="2709799"/>
                  </a:lnTo>
                  <a:cubicBezTo>
                    <a:pt x="12752705" y="2709799"/>
                    <a:pt x="12826746" y="2636266"/>
                    <a:pt x="12826746" y="2545969"/>
                  </a:cubicBezTo>
                  <a:lnTo>
                    <a:pt x="12826746" y="201930"/>
                  </a:lnTo>
                  <a:cubicBezTo>
                    <a:pt x="12826746" y="111633"/>
                    <a:pt x="12752705" y="38100"/>
                    <a:pt x="12660884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734005" y="4325388"/>
            <a:ext cx="114300" cy="2032397"/>
            <a:chOff x="0" y="0"/>
            <a:chExt cx="152400" cy="270986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52400" cy="2709799"/>
            </a:xfrm>
            <a:custGeom>
              <a:avLst/>
              <a:gdLst/>
              <a:ahLst/>
              <a:cxnLst/>
              <a:rect r="r" b="b" t="t" l="l"/>
              <a:pathLst>
                <a:path h="270979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709799"/>
                  </a:lnTo>
                  <a:lnTo>
                    <a:pt x="0" y="2709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" t="0" r="-83" b="-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138217" y="4596260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Компонування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8217" y="5197821"/>
            <a:ext cx="895453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Шапка → лічильники → календар → форма додавання → список задач (чітка ієрархія).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48292" y="6584452"/>
            <a:ext cx="9648682" cy="2060972"/>
            <a:chOff x="0" y="0"/>
            <a:chExt cx="12864910" cy="27479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12826746" cy="2709799"/>
            </a:xfrm>
            <a:custGeom>
              <a:avLst/>
              <a:gdLst/>
              <a:ahLst/>
              <a:cxnLst/>
              <a:rect r="r" b="b" t="t" l="l"/>
              <a:pathLst>
                <a:path h="2709799" w="12826746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2641834" y="0"/>
                  </a:lnTo>
                  <a:cubicBezTo>
                    <a:pt x="12743942" y="0"/>
                    <a:pt x="12826746" y="81915"/>
                    <a:pt x="12826746" y="182880"/>
                  </a:cubicBezTo>
                  <a:lnTo>
                    <a:pt x="12826746" y="2526919"/>
                  </a:lnTo>
                  <a:cubicBezTo>
                    <a:pt x="12826746" y="2627884"/>
                    <a:pt x="12743942" y="2709799"/>
                    <a:pt x="12641834" y="2709799"/>
                  </a:cubicBezTo>
                  <a:lnTo>
                    <a:pt x="184912" y="2709799"/>
                  </a:lnTo>
                  <a:cubicBezTo>
                    <a:pt x="82804" y="2709799"/>
                    <a:pt x="0" y="2627884"/>
                    <a:pt x="0" y="2526919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64846" cy="2747899"/>
            </a:xfrm>
            <a:custGeom>
              <a:avLst/>
              <a:gdLst/>
              <a:ahLst/>
              <a:cxnLst/>
              <a:rect r="r" b="b" t="t" l="l"/>
              <a:pathLst>
                <a:path h="2747899" w="12864846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2660884" y="0"/>
                  </a:lnTo>
                  <a:lnTo>
                    <a:pt x="12660884" y="19050"/>
                  </a:lnTo>
                  <a:lnTo>
                    <a:pt x="12660884" y="0"/>
                  </a:lnTo>
                  <a:cubicBezTo>
                    <a:pt x="12773279" y="0"/>
                    <a:pt x="12864846" y="90170"/>
                    <a:pt x="12864846" y="201930"/>
                  </a:cubicBezTo>
                  <a:lnTo>
                    <a:pt x="12845796" y="201930"/>
                  </a:lnTo>
                  <a:lnTo>
                    <a:pt x="12864846" y="201930"/>
                  </a:lnTo>
                  <a:lnTo>
                    <a:pt x="12864846" y="2545969"/>
                  </a:lnTo>
                  <a:lnTo>
                    <a:pt x="12845796" y="2545969"/>
                  </a:lnTo>
                  <a:lnTo>
                    <a:pt x="12864846" y="2545969"/>
                  </a:lnTo>
                  <a:cubicBezTo>
                    <a:pt x="12864846" y="2657729"/>
                    <a:pt x="12773279" y="2747899"/>
                    <a:pt x="12660884" y="2747899"/>
                  </a:cubicBezTo>
                  <a:lnTo>
                    <a:pt x="12660884" y="2728849"/>
                  </a:lnTo>
                  <a:lnTo>
                    <a:pt x="12660884" y="2747899"/>
                  </a:lnTo>
                  <a:lnTo>
                    <a:pt x="203962" y="2747899"/>
                  </a:lnTo>
                  <a:lnTo>
                    <a:pt x="203962" y="2728849"/>
                  </a:lnTo>
                  <a:lnTo>
                    <a:pt x="203962" y="2747899"/>
                  </a:lnTo>
                  <a:cubicBezTo>
                    <a:pt x="91567" y="2747899"/>
                    <a:pt x="0" y="2657729"/>
                    <a:pt x="0" y="254596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45969"/>
                  </a:lnTo>
                  <a:lnTo>
                    <a:pt x="19050" y="2545969"/>
                  </a:lnTo>
                  <a:lnTo>
                    <a:pt x="38100" y="2545969"/>
                  </a:lnTo>
                  <a:cubicBezTo>
                    <a:pt x="38100" y="2636266"/>
                    <a:pt x="112141" y="2709799"/>
                    <a:pt x="203962" y="2709799"/>
                  </a:cubicBezTo>
                  <a:lnTo>
                    <a:pt x="12660884" y="2709799"/>
                  </a:lnTo>
                  <a:cubicBezTo>
                    <a:pt x="12752705" y="2709799"/>
                    <a:pt x="12826746" y="2636266"/>
                    <a:pt x="12826746" y="2545969"/>
                  </a:cubicBezTo>
                  <a:lnTo>
                    <a:pt x="12826746" y="201930"/>
                  </a:lnTo>
                  <a:cubicBezTo>
                    <a:pt x="12826746" y="111633"/>
                    <a:pt x="12752705" y="38100"/>
                    <a:pt x="12660884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34005" y="6598739"/>
            <a:ext cx="114300" cy="2032397"/>
            <a:chOff x="0" y="0"/>
            <a:chExt cx="152400" cy="270986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52400" cy="2709799"/>
            </a:xfrm>
            <a:custGeom>
              <a:avLst/>
              <a:gdLst/>
              <a:ahLst/>
              <a:cxnLst/>
              <a:rect r="r" b="b" t="t" l="l"/>
              <a:pathLst>
                <a:path h="270979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709799"/>
                  </a:lnTo>
                  <a:lnTo>
                    <a:pt x="0" y="2709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" t="0" r="-83" b="-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138217" y="6869611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Адаптивність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38217" y="7471172"/>
            <a:ext cx="895453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Мобільна та десктопна версії: адаптивні сітки і перепозиціювання блоків для різних ширин екрана.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62580" y="8835476"/>
            <a:ext cx="1052542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Тематичні кольори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3739" y="903094"/>
            <a:ext cx="8781155" cy="65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Документація та життєвий цикл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3739" y="2143573"/>
            <a:ext cx="10522591" cy="6968280"/>
            <a:chOff x="0" y="0"/>
            <a:chExt cx="14030122" cy="9291041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030071" cy="9291066"/>
            </a:xfrm>
            <a:custGeom>
              <a:avLst/>
              <a:gdLst/>
              <a:ahLst/>
              <a:cxnLst/>
              <a:rect r="r" b="b" t="t" l="l"/>
              <a:pathLst>
                <a:path h="9291066" w="14030071">
                  <a:moveTo>
                    <a:pt x="0" y="0"/>
                  </a:moveTo>
                  <a:lnTo>
                    <a:pt x="14030071" y="0"/>
                  </a:lnTo>
                  <a:lnTo>
                    <a:pt x="14030071" y="9291066"/>
                  </a:lnTo>
                  <a:lnTo>
                    <a:pt x="0" y="929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32009" y="2188816"/>
            <a:ext cx="252412" cy="2269922"/>
            <a:chOff x="0" y="0"/>
            <a:chExt cx="336550" cy="30265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6550" cy="3026664"/>
            </a:xfrm>
            <a:custGeom>
              <a:avLst/>
              <a:gdLst/>
              <a:ahLst/>
              <a:cxnLst/>
              <a:rect r="r" b="b" t="t" l="l"/>
              <a:pathLst>
                <a:path h="3026664" w="336550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286004" y="0"/>
                  </a:lnTo>
                  <a:cubicBezTo>
                    <a:pt x="313944" y="0"/>
                    <a:pt x="336550" y="22606"/>
                    <a:pt x="336550" y="50546"/>
                  </a:cubicBezTo>
                  <a:lnTo>
                    <a:pt x="336550" y="2976118"/>
                  </a:lnTo>
                  <a:cubicBezTo>
                    <a:pt x="336550" y="3004058"/>
                    <a:pt x="313944" y="3026664"/>
                    <a:pt x="286004" y="3026664"/>
                  </a:cubicBezTo>
                  <a:lnTo>
                    <a:pt x="50546" y="3026664"/>
                  </a:lnTo>
                  <a:cubicBezTo>
                    <a:pt x="22606" y="3026664"/>
                    <a:pt x="0" y="3004058"/>
                    <a:pt x="0" y="29761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09306" y="2441229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Лаб. 1–2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9306" y="3003499"/>
            <a:ext cx="4904337" cy="120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Charter, Vision, PMP, Gantt (15.02 – 14.03.2026): визначення обсягу та планування.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410780" y="4683623"/>
            <a:ext cx="252412" cy="2269922"/>
            <a:chOff x="0" y="0"/>
            <a:chExt cx="336550" cy="30265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6550" cy="3026664"/>
            </a:xfrm>
            <a:custGeom>
              <a:avLst/>
              <a:gdLst/>
              <a:ahLst/>
              <a:cxnLst/>
              <a:rect r="r" b="b" t="t" l="l"/>
              <a:pathLst>
                <a:path h="3026664" w="336550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286004" y="0"/>
                  </a:lnTo>
                  <a:cubicBezTo>
                    <a:pt x="313944" y="0"/>
                    <a:pt x="336550" y="22606"/>
                    <a:pt x="336550" y="50546"/>
                  </a:cubicBezTo>
                  <a:lnTo>
                    <a:pt x="336550" y="2976118"/>
                  </a:lnTo>
                  <a:cubicBezTo>
                    <a:pt x="336550" y="3004058"/>
                    <a:pt x="313944" y="3026664"/>
                    <a:pt x="286004" y="3026664"/>
                  </a:cubicBezTo>
                  <a:lnTo>
                    <a:pt x="50546" y="3026664"/>
                  </a:lnTo>
                  <a:cubicBezTo>
                    <a:pt x="22606" y="3026664"/>
                    <a:pt x="0" y="3004058"/>
                    <a:pt x="0" y="29761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88068" y="4936036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Лаб. 3–4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88068" y="5498306"/>
            <a:ext cx="4525566" cy="120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SRS з FR1–FR8, Technical Design, Test Plan — деталізація вимог і архітектури.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89541" y="7178431"/>
            <a:ext cx="252412" cy="1888036"/>
            <a:chOff x="0" y="0"/>
            <a:chExt cx="336550" cy="251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6550" cy="2517394"/>
            </a:xfrm>
            <a:custGeom>
              <a:avLst/>
              <a:gdLst/>
              <a:ahLst/>
              <a:cxnLst/>
              <a:rect r="r" b="b" t="t" l="l"/>
              <a:pathLst>
                <a:path h="2517394" w="336550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286004" y="0"/>
                  </a:lnTo>
                  <a:cubicBezTo>
                    <a:pt x="313944" y="0"/>
                    <a:pt x="336550" y="22606"/>
                    <a:pt x="336550" y="50546"/>
                  </a:cubicBezTo>
                  <a:lnTo>
                    <a:pt x="336550" y="2466848"/>
                  </a:lnTo>
                  <a:cubicBezTo>
                    <a:pt x="336550" y="2494788"/>
                    <a:pt x="313944" y="2517394"/>
                    <a:pt x="286004" y="2517394"/>
                  </a:cubicBezTo>
                  <a:lnTo>
                    <a:pt x="50546" y="2517394"/>
                  </a:lnTo>
                  <a:cubicBezTo>
                    <a:pt x="22606" y="2517394"/>
                    <a:pt x="0" y="2494788"/>
                    <a:pt x="0" y="246684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266839" y="7430843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Лаб. 5–6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66839" y="7993113"/>
            <a:ext cx="4146794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Реалізація, інтеграція, написання тестів і підсумкова верифікація.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238" y="1637262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Тестування та якість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2238" y="3109170"/>
            <a:ext cx="7805890" cy="5202441"/>
            <a:chOff x="0" y="0"/>
            <a:chExt cx="10407853" cy="6936588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0407904" cy="6936613"/>
            </a:xfrm>
            <a:custGeom>
              <a:avLst/>
              <a:gdLst/>
              <a:ahLst/>
              <a:cxnLst/>
              <a:rect r="r" b="b" t="t" l="l"/>
              <a:pathLst>
                <a:path h="6936613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6936613"/>
                  </a:lnTo>
                  <a:lnTo>
                    <a:pt x="0" y="6936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499406" y="2965104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Середовище: локальний запуск index.html у Chrome (перевірено також Edge/Firefox).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99406" y="4277020"/>
            <a:ext cx="637880" cy="637880"/>
            <a:chOff x="0" y="0"/>
            <a:chExt cx="850506" cy="850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20798" y="436483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Тест-кейси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20798" y="5015065"/>
            <a:ext cx="688448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17 тест-кейсів: перевірка CRUD, коректності дати/часу, роботи календаря, фільтрів, захисту від XSS, збереження в localStorage.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99406" y="7028707"/>
            <a:ext cx="637880" cy="637880"/>
            <a:chOff x="0" y="0"/>
            <a:chExt cx="850506" cy="850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20798" y="711651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Результат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20798" y="7766742"/>
            <a:ext cx="688448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Усі перевірки: </a:t>
            </a:r>
            <a:r>
              <a:rPr lang="en-US" sz="22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PASS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- відповідність SRS і Test Plan.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238" y="787746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Результати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2238" y="2259654"/>
            <a:ext cx="10355161" cy="6901463"/>
            <a:chOff x="0" y="0"/>
            <a:chExt cx="13806881" cy="920195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3806932" cy="9201912"/>
            </a:xfrm>
            <a:custGeom>
              <a:avLst/>
              <a:gdLst/>
              <a:ahLst/>
              <a:cxnLst/>
              <a:rect r="r" b="b" t="t" l="l"/>
              <a:pathLst>
                <a:path h="9201912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9201912"/>
                  </a:lnTo>
                  <a:lnTo>
                    <a:pt x="0" y="9201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" r="0" b="-3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048677" y="4015826"/>
            <a:ext cx="5256457" cy="345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Робочий додаток без залежностей - відкрив index.html і користуєшся.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Повний пакет документів PM: від ідеї до тестів.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Узгоджені вимоги, дизайн, код і тести в єдиній темі STP - висока внутрішня узгодженість.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1282" y="815731"/>
            <a:ext cx="7839075" cy="70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Висновки та перспективи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1282" y="1977180"/>
            <a:ext cx="16365436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Проєкт демонструє повний цикл розробки ПЗ у навчальному контексті. Обмеження (один браузер, відсутність хмари) були зроблені свідомо для простоти та безпеки даних.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232" y="3198914"/>
            <a:ext cx="5315845" cy="3365306"/>
            <a:chOff x="0" y="0"/>
            <a:chExt cx="7087794" cy="4487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7036943" cy="4436237"/>
            </a:xfrm>
            <a:custGeom>
              <a:avLst/>
              <a:gdLst/>
              <a:ahLst/>
              <a:cxnLst/>
              <a:rect r="r" b="b" t="t" l="l"/>
              <a:pathLst>
                <a:path h="4436237" w="7036943">
                  <a:moveTo>
                    <a:pt x="0" y="54864"/>
                  </a:moveTo>
                  <a:cubicBezTo>
                    <a:pt x="0" y="24638"/>
                    <a:pt x="24638" y="0"/>
                    <a:pt x="55118" y="0"/>
                  </a:cubicBezTo>
                  <a:lnTo>
                    <a:pt x="6981825" y="0"/>
                  </a:lnTo>
                  <a:cubicBezTo>
                    <a:pt x="7012305" y="0"/>
                    <a:pt x="7036943" y="24638"/>
                    <a:pt x="7036943" y="54864"/>
                  </a:cubicBezTo>
                  <a:lnTo>
                    <a:pt x="7036943" y="4381373"/>
                  </a:lnTo>
                  <a:cubicBezTo>
                    <a:pt x="7036943" y="4411726"/>
                    <a:pt x="7012305" y="4436237"/>
                    <a:pt x="6981825" y="4436237"/>
                  </a:cubicBezTo>
                  <a:lnTo>
                    <a:pt x="55118" y="4436237"/>
                  </a:lnTo>
                  <a:cubicBezTo>
                    <a:pt x="24638" y="4436237"/>
                    <a:pt x="0" y="4411599"/>
                    <a:pt x="0" y="4381373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87743" cy="4487037"/>
            </a:xfrm>
            <a:custGeom>
              <a:avLst/>
              <a:gdLst/>
              <a:ahLst/>
              <a:cxnLst/>
              <a:rect r="r" b="b" t="t" l="l"/>
              <a:pathLst>
                <a:path h="4487037" w="7087743">
                  <a:moveTo>
                    <a:pt x="0" y="80264"/>
                  </a:moveTo>
                  <a:cubicBezTo>
                    <a:pt x="0" y="35814"/>
                    <a:pt x="36195" y="0"/>
                    <a:pt x="80518" y="0"/>
                  </a:cubicBezTo>
                  <a:lnTo>
                    <a:pt x="7007225" y="0"/>
                  </a:lnTo>
                  <a:lnTo>
                    <a:pt x="7007225" y="25400"/>
                  </a:lnTo>
                  <a:lnTo>
                    <a:pt x="7007225" y="0"/>
                  </a:lnTo>
                  <a:cubicBezTo>
                    <a:pt x="7051675" y="0"/>
                    <a:pt x="7087743" y="35814"/>
                    <a:pt x="7087743" y="80264"/>
                  </a:cubicBezTo>
                  <a:lnTo>
                    <a:pt x="7062343" y="80264"/>
                  </a:lnTo>
                  <a:lnTo>
                    <a:pt x="7087743" y="80264"/>
                  </a:lnTo>
                  <a:lnTo>
                    <a:pt x="7087743" y="4406773"/>
                  </a:lnTo>
                  <a:lnTo>
                    <a:pt x="7062343" y="4406773"/>
                  </a:lnTo>
                  <a:lnTo>
                    <a:pt x="7087743" y="4406773"/>
                  </a:lnTo>
                  <a:cubicBezTo>
                    <a:pt x="7087743" y="4451223"/>
                    <a:pt x="7051548" y="4487037"/>
                    <a:pt x="7007225" y="4487037"/>
                  </a:cubicBezTo>
                  <a:lnTo>
                    <a:pt x="7007225" y="4461637"/>
                  </a:lnTo>
                  <a:lnTo>
                    <a:pt x="7007225" y="4487037"/>
                  </a:lnTo>
                  <a:lnTo>
                    <a:pt x="80518" y="4487037"/>
                  </a:lnTo>
                  <a:lnTo>
                    <a:pt x="80518" y="4461637"/>
                  </a:lnTo>
                  <a:lnTo>
                    <a:pt x="80518" y="4487037"/>
                  </a:lnTo>
                  <a:cubicBezTo>
                    <a:pt x="36068" y="4487037"/>
                    <a:pt x="0" y="4451223"/>
                    <a:pt x="0" y="4406773"/>
                  </a:cubicBezTo>
                  <a:lnTo>
                    <a:pt x="0" y="80264"/>
                  </a:lnTo>
                  <a:lnTo>
                    <a:pt x="25400" y="80264"/>
                  </a:lnTo>
                  <a:lnTo>
                    <a:pt x="0" y="80264"/>
                  </a:lnTo>
                  <a:moveTo>
                    <a:pt x="50800" y="80264"/>
                  </a:moveTo>
                  <a:lnTo>
                    <a:pt x="50800" y="4406773"/>
                  </a:lnTo>
                  <a:lnTo>
                    <a:pt x="25400" y="4406773"/>
                  </a:lnTo>
                  <a:lnTo>
                    <a:pt x="50800" y="4406773"/>
                  </a:lnTo>
                  <a:cubicBezTo>
                    <a:pt x="50800" y="4423029"/>
                    <a:pt x="64008" y="4436237"/>
                    <a:pt x="80518" y="4436237"/>
                  </a:cubicBezTo>
                  <a:lnTo>
                    <a:pt x="7007225" y="4436237"/>
                  </a:lnTo>
                  <a:cubicBezTo>
                    <a:pt x="7023735" y="4436237"/>
                    <a:pt x="7036943" y="4422902"/>
                    <a:pt x="7036943" y="4406773"/>
                  </a:cubicBezTo>
                  <a:lnTo>
                    <a:pt x="7036943" y="80264"/>
                  </a:lnTo>
                  <a:cubicBezTo>
                    <a:pt x="7036943" y="64008"/>
                    <a:pt x="7023735" y="50800"/>
                    <a:pt x="7007225" y="50800"/>
                  </a:cubicBezTo>
                  <a:lnTo>
                    <a:pt x="80518" y="50800"/>
                  </a:lnTo>
                  <a:lnTo>
                    <a:pt x="80518" y="25400"/>
                  </a:lnTo>
                  <a:lnTo>
                    <a:pt x="80518" y="50800"/>
                  </a:lnTo>
                  <a:cubicBezTo>
                    <a:pt x="64008" y="50800"/>
                    <a:pt x="50800" y="64135"/>
                    <a:pt x="50800" y="80264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9382" y="3256064"/>
            <a:ext cx="5201545" cy="823912"/>
            <a:chOff x="0" y="0"/>
            <a:chExt cx="6935394" cy="1098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35343" cy="1098550"/>
            </a:xfrm>
            <a:custGeom>
              <a:avLst/>
              <a:gdLst/>
              <a:ahLst/>
              <a:cxnLst/>
              <a:rect r="r" b="b" t="t" l="l"/>
              <a:pathLst>
                <a:path h="1098550" w="6935343">
                  <a:moveTo>
                    <a:pt x="0" y="0"/>
                  </a:moveTo>
                  <a:lnTo>
                    <a:pt x="6935343" y="0"/>
                  </a:lnTo>
                  <a:lnTo>
                    <a:pt x="6935343" y="1098550"/>
                  </a:lnTo>
                  <a:lnTo>
                    <a:pt x="0" y="1098550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3394177" y="3462042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6" y="0"/>
                </a:lnTo>
                <a:lnTo>
                  <a:pt x="411956" y="411956"/>
                </a:lnTo>
                <a:lnTo>
                  <a:pt x="0" y="411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545" t="0" r="-454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3969" y="4336409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Короткострокові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3969" y="4858350"/>
            <a:ext cx="4652372" cy="137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Додати експорт/імпорт JSON для перенесення задач між пристроями.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85934" y="3198914"/>
            <a:ext cx="5315988" cy="3365306"/>
            <a:chOff x="0" y="0"/>
            <a:chExt cx="7087984" cy="44870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7037198" cy="4436237"/>
            </a:xfrm>
            <a:custGeom>
              <a:avLst/>
              <a:gdLst/>
              <a:ahLst/>
              <a:cxnLst/>
              <a:rect r="r" b="b" t="t" l="l"/>
              <a:pathLst>
                <a:path h="4436237" w="7037198">
                  <a:moveTo>
                    <a:pt x="0" y="54864"/>
                  </a:moveTo>
                  <a:cubicBezTo>
                    <a:pt x="0" y="24638"/>
                    <a:pt x="24638" y="0"/>
                    <a:pt x="55118" y="0"/>
                  </a:cubicBezTo>
                  <a:lnTo>
                    <a:pt x="6982079" y="0"/>
                  </a:lnTo>
                  <a:cubicBezTo>
                    <a:pt x="7012560" y="0"/>
                    <a:pt x="7037198" y="24638"/>
                    <a:pt x="7037198" y="54864"/>
                  </a:cubicBezTo>
                  <a:lnTo>
                    <a:pt x="7037198" y="4381373"/>
                  </a:lnTo>
                  <a:cubicBezTo>
                    <a:pt x="7037198" y="4411726"/>
                    <a:pt x="7012560" y="4436237"/>
                    <a:pt x="6982079" y="4436237"/>
                  </a:cubicBezTo>
                  <a:lnTo>
                    <a:pt x="55118" y="4436237"/>
                  </a:lnTo>
                  <a:cubicBezTo>
                    <a:pt x="24638" y="4436237"/>
                    <a:pt x="0" y="4411599"/>
                    <a:pt x="0" y="4381373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87998" cy="4487037"/>
            </a:xfrm>
            <a:custGeom>
              <a:avLst/>
              <a:gdLst/>
              <a:ahLst/>
              <a:cxnLst/>
              <a:rect r="r" b="b" t="t" l="l"/>
              <a:pathLst>
                <a:path h="4487037" w="7087998">
                  <a:moveTo>
                    <a:pt x="0" y="80264"/>
                  </a:moveTo>
                  <a:cubicBezTo>
                    <a:pt x="0" y="35814"/>
                    <a:pt x="36195" y="0"/>
                    <a:pt x="80518" y="0"/>
                  </a:cubicBezTo>
                  <a:lnTo>
                    <a:pt x="7007479" y="0"/>
                  </a:lnTo>
                  <a:lnTo>
                    <a:pt x="7007479" y="25400"/>
                  </a:lnTo>
                  <a:lnTo>
                    <a:pt x="7007479" y="0"/>
                  </a:lnTo>
                  <a:cubicBezTo>
                    <a:pt x="7051929" y="0"/>
                    <a:pt x="7087998" y="35814"/>
                    <a:pt x="7087998" y="80264"/>
                  </a:cubicBezTo>
                  <a:lnTo>
                    <a:pt x="7062598" y="80264"/>
                  </a:lnTo>
                  <a:lnTo>
                    <a:pt x="7087998" y="80264"/>
                  </a:lnTo>
                  <a:lnTo>
                    <a:pt x="7087998" y="4406773"/>
                  </a:lnTo>
                  <a:lnTo>
                    <a:pt x="7062598" y="4406773"/>
                  </a:lnTo>
                  <a:lnTo>
                    <a:pt x="7087998" y="4406773"/>
                  </a:lnTo>
                  <a:cubicBezTo>
                    <a:pt x="7087998" y="4451223"/>
                    <a:pt x="7051802" y="4487037"/>
                    <a:pt x="7007479" y="4487037"/>
                  </a:cubicBezTo>
                  <a:lnTo>
                    <a:pt x="7007479" y="4461637"/>
                  </a:lnTo>
                  <a:lnTo>
                    <a:pt x="7007479" y="4487037"/>
                  </a:lnTo>
                  <a:lnTo>
                    <a:pt x="80518" y="4487037"/>
                  </a:lnTo>
                  <a:lnTo>
                    <a:pt x="80518" y="4461637"/>
                  </a:lnTo>
                  <a:lnTo>
                    <a:pt x="80518" y="4487037"/>
                  </a:lnTo>
                  <a:cubicBezTo>
                    <a:pt x="36068" y="4487037"/>
                    <a:pt x="0" y="4451223"/>
                    <a:pt x="0" y="4406773"/>
                  </a:cubicBezTo>
                  <a:lnTo>
                    <a:pt x="0" y="80264"/>
                  </a:lnTo>
                  <a:lnTo>
                    <a:pt x="25400" y="80264"/>
                  </a:lnTo>
                  <a:lnTo>
                    <a:pt x="0" y="80264"/>
                  </a:lnTo>
                  <a:moveTo>
                    <a:pt x="50800" y="80264"/>
                  </a:moveTo>
                  <a:lnTo>
                    <a:pt x="50800" y="4406773"/>
                  </a:lnTo>
                  <a:lnTo>
                    <a:pt x="25400" y="4406773"/>
                  </a:lnTo>
                  <a:lnTo>
                    <a:pt x="50800" y="4406773"/>
                  </a:lnTo>
                  <a:cubicBezTo>
                    <a:pt x="50800" y="4423029"/>
                    <a:pt x="64008" y="4436237"/>
                    <a:pt x="80518" y="4436237"/>
                  </a:cubicBezTo>
                  <a:lnTo>
                    <a:pt x="7007479" y="4436237"/>
                  </a:lnTo>
                  <a:cubicBezTo>
                    <a:pt x="7023989" y="4436237"/>
                    <a:pt x="7037198" y="4422902"/>
                    <a:pt x="7037198" y="4406773"/>
                  </a:cubicBezTo>
                  <a:lnTo>
                    <a:pt x="7037198" y="80264"/>
                  </a:lnTo>
                  <a:cubicBezTo>
                    <a:pt x="7037198" y="64008"/>
                    <a:pt x="7023989" y="50800"/>
                    <a:pt x="7007479" y="50800"/>
                  </a:cubicBezTo>
                  <a:lnTo>
                    <a:pt x="80518" y="50800"/>
                  </a:lnTo>
                  <a:lnTo>
                    <a:pt x="80518" y="25400"/>
                  </a:lnTo>
                  <a:lnTo>
                    <a:pt x="80518" y="50800"/>
                  </a:lnTo>
                  <a:cubicBezTo>
                    <a:pt x="64008" y="50800"/>
                    <a:pt x="50800" y="64135"/>
                    <a:pt x="50800" y="80264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43084" y="3256064"/>
            <a:ext cx="5201688" cy="823912"/>
            <a:chOff x="0" y="0"/>
            <a:chExt cx="6935584" cy="1098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35597" cy="1098550"/>
            </a:xfrm>
            <a:custGeom>
              <a:avLst/>
              <a:gdLst/>
              <a:ahLst/>
              <a:cxnLst/>
              <a:rect r="r" b="b" t="t" l="l"/>
              <a:pathLst>
                <a:path h="1098550" w="6935597">
                  <a:moveTo>
                    <a:pt x="0" y="0"/>
                  </a:moveTo>
                  <a:lnTo>
                    <a:pt x="6935597" y="0"/>
                  </a:lnTo>
                  <a:lnTo>
                    <a:pt x="6935597" y="1098550"/>
                  </a:lnTo>
                  <a:lnTo>
                    <a:pt x="0" y="1098550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8937869" y="3462042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7" y="0"/>
                </a:lnTo>
                <a:lnTo>
                  <a:pt x="411957" y="411956"/>
                </a:lnTo>
                <a:lnTo>
                  <a:pt x="0" y="411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499" r="0" b="-1249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17671" y="4336409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Середні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7671" y="4858350"/>
            <a:ext cx="4652515" cy="137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Нагадування та локальні сповіщення (суворі таймери, звуки).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29780" y="3198914"/>
            <a:ext cx="5315988" cy="3365306"/>
            <a:chOff x="0" y="0"/>
            <a:chExt cx="7087984" cy="44870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7037198" cy="4436237"/>
            </a:xfrm>
            <a:custGeom>
              <a:avLst/>
              <a:gdLst/>
              <a:ahLst/>
              <a:cxnLst/>
              <a:rect r="r" b="b" t="t" l="l"/>
              <a:pathLst>
                <a:path h="4436237" w="7037198">
                  <a:moveTo>
                    <a:pt x="0" y="54864"/>
                  </a:moveTo>
                  <a:cubicBezTo>
                    <a:pt x="0" y="24638"/>
                    <a:pt x="24638" y="0"/>
                    <a:pt x="55118" y="0"/>
                  </a:cubicBezTo>
                  <a:lnTo>
                    <a:pt x="6982079" y="0"/>
                  </a:lnTo>
                  <a:cubicBezTo>
                    <a:pt x="7012560" y="0"/>
                    <a:pt x="7037198" y="24638"/>
                    <a:pt x="7037198" y="54864"/>
                  </a:cubicBezTo>
                  <a:lnTo>
                    <a:pt x="7037198" y="4381373"/>
                  </a:lnTo>
                  <a:cubicBezTo>
                    <a:pt x="7037198" y="4411726"/>
                    <a:pt x="7012560" y="4436237"/>
                    <a:pt x="6982079" y="4436237"/>
                  </a:cubicBezTo>
                  <a:lnTo>
                    <a:pt x="55118" y="4436237"/>
                  </a:lnTo>
                  <a:cubicBezTo>
                    <a:pt x="24638" y="4436237"/>
                    <a:pt x="0" y="4411599"/>
                    <a:pt x="0" y="4381373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87998" cy="4487037"/>
            </a:xfrm>
            <a:custGeom>
              <a:avLst/>
              <a:gdLst/>
              <a:ahLst/>
              <a:cxnLst/>
              <a:rect r="r" b="b" t="t" l="l"/>
              <a:pathLst>
                <a:path h="4487037" w="7087998">
                  <a:moveTo>
                    <a:pt x="0" y="80264"/>
                  </a:moveTo>
                  <a:cubicBezTo>
                    <a:pt x="0" y="35814"/>
                    <a:pt x="36195" y="0"/>
                    <a:pt x="80518" y="0"/>
                  </a:cubicBezTo>
                  <a:lnTo>
                    <a:pt x="7007479" y="0"/>
                  </a:lnTo>
                  <a:lnTo>
                    <a:pt x="7007479" y="25400"/>
                  </a:lnTo>
                  <a:lnTo>
                    <a:pt x="7007479" y="0"/>
                  </a:lnTo>
                  <a:cubicBezTo>
                    <a:pt x="7051929" y="0"/>
                    <a:pt x="7087998" y="35814"/>
                    <a:pt x="7087998" y="80264"/>
                  </a:cubicBezTo>
                  <a:lnTo>
                    <a:pt x="7062598" y="80264"/>
                  </a:lnTo>
                  <a:lnTo>
                    <a:pt x="7087998" y="80264"/>
                  </a:lnTo>
                  <a:lnTo>
                    <a:pt x="7087998" y="4406773"/>
                  </a:lnTo>
                  <a:lnTo>
                    <a:pt x="7062598" y="4406773"/>
                  </a:lnTo>
                  <a:lnTo>
                    <a:pt x="7087998" y="4406773"/>
                  </a:lnTo>
                  <a:cubicBezTo>
                    <a:pt x="7087998" y="4451223"/>
                    <a:pt x="7051802" y="4487037"/>
                    <a:pt x="7007479" y="4487037"/>
                  </a:cubicBezTo>
                  <a:lnTo>
                    <a:pt x="7007479" y="4461637"/>
                  </a:lnTo>
                  <a:lnTo>
                    <a:pt x="7007479" y="4487037"/>
                  </a:lnTo>
                  <a:lnTo>
                    <a:pt x="80518" y="4487037"/>
                  </a:lnTo>
                  <a:lnTo>
                    <a:pt x="80518" y="4461637"/>
                  </a:lnTo>
                  <a:lnTo>
                    <a:pt x="80518" y="4487037"/>
                  </a:lnTo>
                  <a:cubicBezTo>
                    <a:pt x="36068" y="4487037"/>
                    <a:pt x="0" y="4451223"/>
                    <a:pt x="0" y="4406773"/>
                  </a:cubicBezTo>
                  <a:lnTo>
                    <a:pt x="0" y="80264"/>
                  </a:lnTo>
                  <a:lnTo>
                    <a:pt x="25400" y="80264"/>
                  </a:lnTo>
                  <a:lnTo>
                    <a:pt x="0" y="80264"/>
                  </a:lnTo>
                  <a:moveTo>
                    <a:pt x="50800" y="80264"/>
                  </a:moveTo>
                  <a:lnTo>
                    <a:pt x="50800" y="4406773"/>
                  </a:lnTo>
                  <a:lnTo>
                    <a:pt x="25400" y="4406773"/>
                  </a:lnTo>
                  <a:lnTo>
                    <a:pt x="50800" y="4406773"/>
                  </a:lnTo>
                  <a:cubicBezTo>
                    <a:pt x="50800" y="4423029"/>
                    <a:pt x="64008" y="4436237"/>
                    <a:pt x="80518" y="4436237"/>
                  </a:cubicBezTo>
                  <a:lnTo>
                    <a:pt x="7007479" y="4436237"/>
                  </a:lnTo>
                  <a:cubicBezTo>
                    <a:pt x="7023989" y="4436237"/>
                    <a:pt x="7037198" y="4422902"/>
                    <a:pt x="7037198" y="4406773"/>
                  </a:cubicBezTo>
                  <a:lnTo>
                    <a:pt x="7037198" y="80264"/>
                  </a:lnTo>
                  <a:cubicBezTo>
                    <a:pt x="7037198" y="64008"/>
                    <a:pt x="7023989" y="50800"/>
                    <a:pt x="7007479" y="50800"/>
                  </a:cubicBezTo>
                  <a:lnTo>
                    <a:pt x="80518" y="50800"/>
                  </a:lnTo>
                  <a:lnTo>
                    <a:pt x="80518" y="25400"/>
                  </a:lnTo>
                  <a:lnTo>
                    <a:pt x="80518" y="50800"/>
                  </a:lnTo>
                  <a:cubicBezTo>
                    <a:pt x="64008" y="50800"/>
                    <a:pt x="50800" y="64135"/>
                    <a:pt x="50800" y="80264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86930" y="3256064"/>
            <a:ext cx="5201688" cy="823912"/>
            <a:chOff x="0" y="0"/>
            <a:chExt cx="6935584" cy="10985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35597" cy="1098550"/>
            </a:xfrm>
            <a:custGeom>
              <a:avLst/>
              <a:gdLst/>
              <a:ahLst/>
              <a:cxnLst/>
              <a:rect r="r" b="b" t="t" l="l"/>
              <a:pathLst>
                <a:path h="1098550" w="6935597">
                  <a:moveTo>
                    <a:pt x="0" y="0"/>
                  </a:moveTo>
                  <a:lnTo>
                    <a:pt x="6935597" y="0"/>
                  </a:lnTo>
                  <a:lnTo>
                    <a:pt x="6935597" y="1098550"/>
                  </a:lnTo>
                  <a:lnTo>
                    <a:pt x="0" y="1098550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4481724" y="3462042"/>
            <a:ext cx="411956" cy="411956"/>
          </a:xfrm>
          <a:custGeom>
            <a:avLst/>
            <a:gdLst/>
            <a:ahLst/>
            <a:cxnLst/>
            <a:rect r="r" b="b" t="t" l="l"/>
            <a:pathLst>
              <a:path h="411956" w="411956">
                <a:moveTo>
                  <a:pt x="0" y="0"/>
                </a:moveTo>
                <a:lnTo>
                  <a:pt x="411957" y="0"/>
                </a:lnTo>
                <a:lnTo>
                  <a:pt x="411957" y="411956"/>
                </a:lnTo>
                <a:lnTo>
                  <a:pt x="0" y="4119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3863" r="0" b="-23863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361516" y="4336409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Довгострокові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61516" y="4858350"/>
            <a:ext cx="4652515" cy="137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PWA - офлайн-режим, можливість синхронізації при бажанні через вибірковий бекенд.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1282" y="7576395"/>
            <a:ext cx="16365436" cy="1143895"/>
            <a:chOff x="0" y="0"/>
            <a:chExt cx="21820581" cy="15251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820632" cy="1525270"/>
            </a:xfrm>
            <a:custGeom>
              <a:avLst/>
              <a:gdLst/>
              <a:ahLst/>
              <a:cxnLst/>
              <a:rect r="r" b="b" t="t" l="l"/>
              <a:pathLst>
                <a:path h="1525270" w="21820632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21765640" y="0"/>
                  </a:lnTo>
                  <a:cubicBezTo>
                    <a:pt x="21795994" y="0"/>
                    <a:pt x="21820632" y="24638"/>
                    <a:pt x="21820632" y="54991"/>
                  </a:cubicBezTo>
                  <a:lnTo>
                    <a:pt x="21820632" y="1470279"/>
                  </a:lnTo>
                  <a:cubicBezTo>
                    <a:pt x="21820632" y="1500632"/>
                    <a:pt x="21795994" y="1525270"/>
                    <a:pt x="21765640" y="1525270"/>
                  </a:cubicBezTo>
                  <a:lnTo>
                    <a:pt x="54991" y="1525270"/>
                  </a:lnTo>
                  <a:cubicBezTo>
                    <a:pt x="24638" y="1525270"/>
                    <a:pt x="0" y="1500632"/>
                    <a:pt x="0" y="1470279"/>
                  </a:cubicBezTo>
                  <a:close/>
                </a:path>
              </a:pathLst>
            </a:custGeom>
            <a:solidFill>
              <a:srgbClr val="C3C2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5869" y="8003086"/>
            <a:ext cx="343195" cy="274587"/>
            <a:chOff x="0" y="0"/>
            <a:chExt cx="457594" cy="36611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57581" cy="366141"/>
            </a:xfrm>
            <a:custGeom>
              <a:avLst/>
              <a:gdLst/>
              <a:ahLst/>
              <a:cxnLst/>
              <a:rect r="r" b="b" t="t" l="l"/>
              <a:pathLst>
                <a:path h="36614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66141"/>
                  </a:lnTo>
                  <a:lnTo>
                    <a:pt x="0" y="366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3" r="-2" b="-33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853651" y="7834760"/>
            <a:ext cx="16112881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Наступні кроки: прототипування експорту, реалізація сповіщень, додаткове тестування PWA.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DAHKnKe4tw8</dc:identifier>
  <dcterms:modified xsi:type="dcterms:W3CDTF">2011-08-01T06:04:30Z</dcterms:modified>
  <cp:revision>1</cp:revision>
  <dc:title>Student-Task-Planner.pptx</dc:title>
</cp:coreProperties>
</file>